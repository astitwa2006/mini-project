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161A"/>
                </a:solidFill>
                <a:latin typeface="Space Grotesk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CE9E2"/>
                </a:solidFill>
                <a:latin typeface="JetBrains Mono"/>
              </a:rPr>
              <a:t>MINI PROJECT  · 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F7F5F0"/>
                </a:solidFill>
                <a:latin typeface="Space Grotesk"/>
              </a:rPr>
              <a:t>Quiz</a:t>
            </a:r>
            <a:r>
              <a:rPr sz="7200" b="1" i="0">
                <a:solidFill>
                  <a:srgbClr val="C8FF4D"/>
                </a:solidFill>
                <a:latin typeface="Space Grotesk"/>
              </a:rPr>
              <a:t>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ECE9E2"/>
                </a:solidFill>
                <a:latin typeface="Space Grotesk"/>
              </a:rPr>
              <a:t>Real-time multiplayer trivia, generated live from today's tech news.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JetBrains Mono"/>
              </a:rPr>
              <a:t>Astitwa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98932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9B6AE"/>
                </a:solidFill>
                <a:latin typeface="JetBrains Mono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00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The Problem &amp;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9864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Technology Stack &amp;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5876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Core Gameplay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1888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Key Features — Formats, Wager &amp; Steal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93852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Security: Anti-Cheat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80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9864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The Live News → Trivia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5876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Development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161A"/>
                </a:solidFill>
                <a:latin typeface="JetBrai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81888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14161A"/>
                </a:solidFill>
                <a:latin typeface="Space Grotesk"/>
              </a:rPr>
              <a:t>Testing, Deployment &amp; What's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01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Trivia Games Go Stale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5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650">
                <a:solidFill>
                  <a:srgbClr val="14161A"/>
                </a:solidFill>
                <a:latin typeface="Space Grotesk"/>
              </a:rPr>
              <a:t>Static banks. </a:t>
            </a:r>
            <a:r>
              <a:rPr sz="1650">
                <a:solidFill>
                  <a:srgbClr val="14161A"/>
                </a:solidFill>
                <a:latin typeface="Space Grotesk"/>
              </a:rPr>
              <a:t>Most trivia apps replay the same fixed question set — it repeats quickly and never changes.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5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650">
                <a:solidFill>
                  <a:srgbClr val="14161A"/>
                </a:solidFill>
                <a:latin typeface="Space Grotesk"/>
              </a:rPr>
              <a:t>No connection to today. </a:t>
            </a:r>
            <a:r>
              <a:rPr sz="1650">
                <a:solidFill>
                  <a:srgbClr val="14161A"/>
                </a:solidFill>
                <a:latin typeface="Space Grotesk"/>
              </a:rPr>
              <a:t>None of it reflects what's actually happening in the news right now.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5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650">
                <a:solidFill>
                  <a:srgbClr val="14161A"/>
                </a:solidFill>
                <a:latin typeface="Space Grotesk"/>
              </a:rPr>
              <a:t>Tech-savvy groups already follow the news. </a:t>
            </a:r>
            <a:r>
              <a:rPr sz="1650">
                <a:solidFill>
                  <a:srgbClr val="14161A"/>
                </a:solidFill>
                <a:latin typeface="Space Grotesk"/>
              </a:rPr>
              <a:t>New model releases, funding rounds, security disclosures — there was no lightweight way to turn that into a game with friends.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73152" cy="123444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7A66"/>
                </a:solidFill>
                <a:latin typeface="JetBrains Mono"/>
              </a:rPr>
              <a:t>CORE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76672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14161A"/>
                </a:solidFill>
                <a:latin typeface="Space Grotesk"/>
              </a:rPr>
              <a:t>Treat the live news cycle itself as the question bank — regenerated per room, never the same round twice.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02 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Live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Every question generated from real, recent news.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True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Every player sees the same question at the same instant.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Tamper-resistant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Points depend only on facts the server can verify.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33756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021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Free-tier friendly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9044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Stay well inside free LLM quota and free DB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Distinct visual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1324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No generic "AI template" look.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4632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161A"/>
                </a:solidFill>
                <a:latin typeface="Space Grotesk"/>
              </a:rPr>
              <a:t>Format variety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41324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E7072"/>
                </a:solidFill>
                <a:latin typeface="Space Grotesk"/>
              </a:rPr>
              <a:t>More than plain multiple-choice.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03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E7072"/>
                </a:solidFill>
                <a:latin typeface="JetBrains Mono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865376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7056" y="1865376"/>
            <a:ext cx="694944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1865376"/>
            <a:ext cx="1399032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Tailwind v4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65376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65376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React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82912" y="1865376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Socket.io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E7072"/>
                </a:solidFill>
                <a:latin typeface="JetBrains Mono"/>
              </a:rPr>
              <a:t>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688336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Node.js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6472" y="2688336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Express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4" y="2688336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Socket.io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688336"/>
            <a:ext cx="795528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2688336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Supabase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2688336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Gemini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2688336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4161A"/>
                </a:solidFill>
                <a:latin typeface="JetBrains Mono"/>
              </a:rPr>
              <a:t>rss-parser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E7072"/>
                </a:solidFill>
                <a:latin typeface="JetBrains Mono"/>
              </a:rPr>
              <a:t>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3511296"/>
            <a:ext cx="694944" cy="457200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7F5F0"/>
                </a:solidFill>
                <a:latin typeface="JetBrains Mono"/>
              </a:rPr>
              <a:t>Jest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511296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7F5F0"/>
                </a:solidFill>
                <a:latin typeface="JetBrains Mono"/>
              </a:rPr>
              <a:t>ESLint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3511296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7F5F0"/>
                </a:solidFill>
                <a:latin typeface="JetBrains Mono"/>
              </a:rPr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3511296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7F5F0"/>
                </a:solidFill>
                <a:latin typeface="JetBrains Mono"/>
              </a:rPr>
              <a:t>Render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E7072"/>
                </a:solidFill>
                <a:latin typeface="JetBrains Mono"/>
              </a:rPr>
              <a:t>WHY THIS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Socket.io drives room-scoped real-time events. Redis holds fast-changing game state so Postgres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stays out of the hot path. Supabase supplies auth, storage and row-level security out of the box.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04 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C8FF4D"/>
                </a:solidFill>
                <a:latin typeface="Space Grotesk"/>
              </a:rPr>
              <a:t>REACT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7F5F0"/>
                </a:solidFill>
                <a:latin typeface="Space Grotesk"/>
              </a:rPr>
              <a:t>Vite SPA · Socket.io-client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4161A"/>
                </a:solidFill>
                <a:latin typeface="Space Grotesk"/>
              </a:rPr>
              <a:t>EXPRESS + SOCKET.IO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Game engine · Auth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9601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11556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4161A"/>
                </a:solidFill>
                <a:latin typeface="Space Grotesk"/>
              </a:rP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17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61A"/>
                </a:solidFill>
                <a:latin typeface="Space Grotesk"/>
              </a:rPr>
              <a:t>Room state · timers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514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700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4161A"/>
                </a:solidFill>
                <a:latin typeface="Space Grotesk"/>
              </a:rP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61A"/>
                </a:solidFill>
                <a:latin typeface="Space Grotesk"/>
              </a:rPr>
              <a:t>Auth · Postgres · RLS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749039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044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4161A"/>
                </a:solidFill>
                <a:latin typeface="Space Grotesk"/>
              </a:rPr>
              <a:t>GOOGLE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Batched question 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0292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51846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4161A"/>
                </a:solidFill>
                <a:latin typeface="Space Grotesk"/>
              </a:rPr>
              <a:t>RSS NEWS FEEDS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486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Per-topic sources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2624328"/>
            <a:ext cx="1371600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23760" y="1554480"/>
            <a:ext cx="1554480" cy="82296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23760" y="2834640"/>
            <a:ext cx="1554480" cy="4572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" y="3154680"/>
            <a:ext cx="0" cy="594359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52160" y="4663440"/>
            <a:ext cx="0" cy="36576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05 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The Core Gameplay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Sign 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(Google or guest code)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3432" y="3520440"/>
            <a:ext cx="173736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7168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Onboarding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(nickname, tile, topics)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60520" y="3520440"/>
            <a:ext cx="173736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34256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Create / join a room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7608" y="3520440"/>
            <a:ext cx="173736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81344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Waiting room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(roster, code)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54696" y="3520440"/>
            <a:ext cx="173736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28432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Live round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(question → reveal)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01784" y="3520440"/>
            <a:ext cx="173736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75520" y="2743200"/>
            <a:ext cx="167335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5248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29077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JetBrains Mon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429000"/>
            <a:ext cx="14538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61A"/>
                </a:solidFill>
                <a:latin typeface="Space Grotesk"/>
              </a:rPr>
              <a:t>Results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072"/>
                </a:solidFill>
                <a:latin typeface="Space Grotesk"/>
              </a:rPr>
              <a:t>(podium, stats)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1">
                <a:solidFill>
                  <a:srgbClr val="6E7072"/>
                </a:solidFill>
                <a:latin typeface="Space Grotesk"/>
              </a:rPr>
              <a:t>A standings screen breaks up the middle of a round; results end with a podium, accuracy/speed/streak stats, and a list of what you missed.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06  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Five Ways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029968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4161A"/>
                </a:solidFill>
                <a:latin typeface="JetBrains Mono"/>
              </a:rPr>
              <a:t>Single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80360"/>
            <a:ext cx="16276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4161A"/>
                </a:solidFill>
                <a:latin typeface="Space Grotesk"/>
              </a:rPr>
              <a:t>Pick one 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011680"/>
            <a:ext cx="2029968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54096" y="2240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4161A"/>
                </a:solidFill>
                <a:latin typeface="JetBrains Mono"/>
              </a:rPr>
              <a:t>Multi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2880360"/>
            <a:ext cx="16276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4161A"/>
                </a:solidFill>
                <a:latin typeface="Space Grotesk"/>
              </a:rPr>
              <a:t>Pick every option that applies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011680"/>
            <a:ext cx="2029968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6944" y="2240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4161A"/>
                </a:solidFill>
                <a:latin typeface="JetBrains Mono"/>
              </a:rP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880360"/>
            <a:ext cx="16276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4161A"/>
                </a:solidFill>
                <a:latin typeface="Space Grotesk"/>
              </a:rPr>
              <a:t>Put items in the right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2011680"/>
            <a:ext cx="2029968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79792" y="2240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4161A"/>
                </a:solidFill>
                <a:latin typeface="JetBrains Mono"/>
              </a:rPr>
              <a:t>Swipe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880360"/>
            <a:ext cx="16276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4161A"/>
                </a:solidFill>
                <a:latin typeface="Space Grotesk"/>
              </a:rPr>
              <a:t>True / False on a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72" y="2011680"/>
            <a:ext cx="2029968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22402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4161A"/>
                </a:solidFill>
                <a:latin typeface="JetBrains Mono"/>
              </a:rPr>
              <a:t>Type-in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880360"/>
            <a:ext cx="16276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4161A"/>
                </a:solidFill>
                <a:latin typeface="Space Grotesk"/>
              </a:rPr>
              <a:t>Type a short free-text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E7072"/>
                </a:solidFill>
                <a:latin typeface="Space Grotesk"/>
              </a:rPr>
              <a:t>Every format shares one scoring idea: full credit for exact correctness, partial credit for a close attempt — never all-or-nothing.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07  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Risk Mechanics — Wager &amp; Steal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161A"/>
                </a:solidFill>
                <a:latin typeface="Space Grotesk"/>
              </a:rPr>
              <a:t>WAGER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i="0">
                <a:solidFill>
                  <a:srgbClr val="14161A"/>
                </a:solidFill>
                <a:latin typeface="Space Grotesk"/>
              </a:rPr>
              <a:t>Double your points for a correct answer.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i="0">
                <a:solidFill>
                  <a:srgbClr val="14161A"/>
                </a:solidFill>
                <a:latin typeface="Space Grotesk"/>
              </a:rPr>
              <a:t>Lose the equivalent amount if you're wrong.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 i="1">
                <a:solidFill>
                  <a:srgbClr val="14161A"/>
                </a:solidFill>
                <a:latin typeface="Space Grotesk"/>
              </a:rPr>
              <a:t>A genuine bet — not a free upgrade.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6596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161A"/>
                </a:solidFill>
                <a:latin typeface="Space Grotesk"/>
              </a:rPr>
              <a:t>STEAL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8892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i="0">
                <a:solidFill>
                  <a:srgbClr val="14161A"/>
                </a:solidFill>
                <a:latin typeface="Space Grotesk"/>
              </a:rPr>
              <a:t>Once per game, name an opponent before answering.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i="0">
                <a:solidFill>
                  <a:srgbClr val="14161A"/>
                </a:solidFill>
                <a:latin typeface="Space Grotesk"/>
              </a:rPr>
              <a:t>If you answer correctly and they answer wrong,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i="0">
                <a:solidFill>
                  <a:srgbClr val="14161A"/>
                </a:solidFill>
                <a:latin typeface="Space Grotesk"/>
              </a:rPr>
              <a:t>a fixed amount transfers from their score to yours.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9B6AE"/>
                </a:solidFill>
                <a:latin typeface="JetBrains Mono"/>
              </a:rPr>
              <a:t>08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7F5F0"/>
                </a:solidFill>
                <a:latin typeface="Space Grotesk"/>
              </a:rPr>
              <a:t>Anti-Cheat: The One-Line Bug That Broke Fairness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ECE9E2"/>
                </a:solidFill>
                <a:latin typeface="Space Grotesk"/>
              </a:rPr>
              <a:t>The server trusted a client-reported "time remaining" value to compute speed-based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7A66"/>
                </a:solidFill>
                <a:latin typeface="JetBrains Mono"/>
              </a:rPr>
              <a:t>THE EXPLOIT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F7F5F0"/>
                </a:solidFill>
                <a:latin typeface="Space Grotesk"/>
              </a:rPr>
              <a:t>A modified client could submit any answer with a fabricated "answered instantly" claim and receive maximum points — regardless of real response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5176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8FF4D"/>
                </a:solidFill>
                <a:latin typeface="JetBrains Mono"/>
              </a:rPr>
              <a:t>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F7F5F0"/>
                </a:solidFill>
                <a:latin typeface="Space Grotesk"/>
              </a:rPr>
              <a:t>The server timestamps every question at broadcast, then clamps any claimed timing against its own clock. A client can only ever be scored lower than the truth — never higher.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09 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From Headline to Trivia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04825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6824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Space Grotesk"/>
              </a:rPr>
              <a:t>RSS feeds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4161A"/>
                </a:solidFill>
                <a:latin typeface="Space Grotesk"/>
              </a:rPr>
              <a:t>fetched concurrently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88336" y="3291840"/>
            <a:ext cx="182880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1216" y="2377440"/>
            <a:ext cx="2048256" cy="1828800"/>
          </a:xfrm>
          <a:prstGeom prst="roundRect">
            <a:avLst>
              <a:gd name="adj" fmla="val 1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2880360"/>
            <a:ext cx="16824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Space Grotesk"/>
              </a:rPr>
              <a:t>Articles batched,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4161A"/>
                </a:solidFill>
                <a:latin typeface="Space Grotesk"/>
              </a:rPr>
              <a:t>1 Gemini call → many Qs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9472" y="3291840"/>
            <a:ext cx="182880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2352" y="2377440"/>
            <a:ext cx="204825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880360"/>
            <a:ext cx="16824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Space Grotesk"/>
              </a:rPr>
              <a:t>Validated + shuffled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4161A"/>
                </a:solidFill>
                <a:latin typeface="Space Grotesk"/>
              </a:rPr>
              <a:t>into 5 formats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50608" y="3291840"/>
            <a:ext cx="182880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33488" y="2377440"/>
            <a:ext cx="204825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2880360"/>
            <a:ext cx="16824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Space Grotesk"/>
              </a:rPr>
              <a:t>Cached in Redis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4161A"/>
                </a:solidFill>
                <a:latin typeface="Space Grotesk"/>
              </a:rPr>
              <a:t>by topic hash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81744" y="3291840"/>
            <a:ext cx="182880" cy="0"/>
          </a:xfrm>
          <a:prstGeom prst="line">
            <a:avLst/>
          </a:prstGeom>
          <a:ln w="22225">
            <a:solidFill>
              <a:srgbClr val="1416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64624" y="2377440"/>
            <a:ext cx="204825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880360"/>
            <a:ext cx="16824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4161A"/>
                </a:solidFill>
                <a:latin typeface="Space Grotesk"/>
              </a:rPr>
              <a:t>Locked per room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4161A"/>
                </a:solidFill>
                <a:latin typeface="Space Grotesk"/>
              </a:rPr>
              <a:t>at game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1">
                <a:solidFill>
                  <a:srgbClr val="6E7072"/>
                </a:solidFill>
                <a:latin typeface="Space Grotesk"/>
              </a:rPr>
              <a:t>Batching turns a strict free-tier request quota into far more usable questions — the same daily call budget now yields several finished questions per call instead of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10 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Project Stages (1–4)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56231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STABILIZATION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3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Codebase audit — fixed real bugs (broken room state sync, dead code, missing lint setup).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49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44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PERFORMANCE &amp;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1927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Rebuilt the question pipeline: concurrent fetch, batched LLM calls, Redis caching.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1538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15383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97095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9703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Diagnosed LLM quota tiers; corrected a fully-retired model choice.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8581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8581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6752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0136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Full review pass found and fixed the client-trusted-timing scoring exploit.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10 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Project Stages (5–8)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56231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DESIGN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3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Prototyped three distinct visual directions to replace a generic first-pass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49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44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1927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Converged on a final design; parallel implementation began against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1538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15383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97095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9703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Audited the in-progress build, closed dropped wiring, completed the redesign.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8581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F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8581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161A"/>
                </a:solidFill>
                <a:latin typeface="JetBrains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6752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7A66"/>
                </a:solidFill>
                <a:latin typeface="JetBrains Mono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0136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4161A"/>
                </a:solidFill>
                <a:latin typeface="Space Grotesk"/>
              </a:rPr>
              <a:t>Clean lint, green test suite, successful production build.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11 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9047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7072"/>
                </a:solidFill>
                <a:latin typeface="JetBrains Mono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9047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7072"/>
                </a:solidFill>
                <a:latin typeface="JetBrains Mono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19"/>
            <a:ext cx="10881360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Free-tier LLM quota too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Batch articles → 1 call yields many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01567"/>
            <a:ext cx="10881360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7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Full question sets filling the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15767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Null the heavy snapshot once a game 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42815"/>
            <a:ext cx="10881360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57015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Client-reported timing = fakeable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557015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Server-recorded broadcast timestamps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84063"/>
            <a:ext cx="10881360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98263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Generic, characterless first-pass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98263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Bespoke design system, three directions prototyped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925311"/>
            <a:ext cx="10881360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1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Parallel in-progress work on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39511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4161A"/>
                </a:solidFill>
                <a:latin typeface="Space Grotesk"/>
              </a:rPr>
              <a:t>Full audit of actual code before any new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12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Unit tests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anti-cheat timing, wager/steal scoring, batched question generation.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Integration tests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Socket.io room-join flow against a real socket server.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Static analysis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full ESLint pass, clean across client and server.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Build verification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production Vite build completes with no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13  SHIPPING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Multi-stage Docker image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server also serves the client's built static assets.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docker-compose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spins up local Redis for development.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Hosted on Render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with Supabase and Upstash Redis as managed services.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b="1" sz="1700">
                <a:solidFill>
                  <a:srgbClr val="14161A"/>
                </a:solidFill>
                <a:latin typeface="Space Grotesk"/>
              </a:rPr>
              <a:t>Configuration — </a:t>
            </a:r>
            <a:r>
              <a:rPr sz="1700">
                <a:solidFill>
                  <a:srgbClr val="14161A"/>
                </a:solidFill>
                <a:latin typeface="Space Grotesk"/>
              </a:rPr>
              <a:t>entirely through environment variables, no hardcoded secrets.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072"/>
                </a:solidFill>
                <a:latin typeface="JetBrains Mono"/>
              </a:rPr>
              <a:t>14 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4161A"/>
                </a:solidFill>
                <a:latin typeface="Space Grotesk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502920" cy="381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sz="1700">
                <a:solidFill>
                  <a:srgbClr val="14161A"/>
                </a:solidFill>
                <a:latin typeface="Space Grotesk"/>
              </a:rPr>
              <a:t>Lifetime per-format accuracy analytics (needs a persisted answer-history table)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sz="1700">
                <a:solidFill>
                  <a:srgbClr val="14161A"/>
                </a:solidFill>
                <a:latin typeface="Space Grotesk"/>
              </a:rPr>
              <a:t>Server-authoritative streak multiplier (currently informational only)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sz="1700">
                <a:solidFill>
                  <a:srgbClr val="14161A"/>
                </a:solidFill>
                <a:latin typeface="Space Grotesk"/>
              </a:rPr>
              <a:t>Spectator mode for in-progress rooms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sz="1700">
                <a:solidFill>
                  <a:srgbClr val="14161A"/>
                </a:solidFill>
                <a:latin typeface="Space Grotesk"/>
              </a:rPr>
              <a:t>Cross-room, friends-based leaderboards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FF7A66"/>
                </a:solidFill>
                <a:latin typeface="Space Grotesk"/>
              </a:rPr>
              <a:t>—  </a:t>
            </a:r>
            <a:r>
              <a:rPr sz="1700">
                <a:solidFill>
                  <a:srgbClr val="14161A"/>
                </a:solidFill>
                <a:latin typeface="Space Grotesk"/>
              </a:rPr>
              <a:t>Additional answer formats and difficulty-adaptive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QUIZRUSH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072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F7F5F0"/>
                </a:solidFill>
                <a:latin typeface="Space Grotesk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C8FF4D"/>
                </a:solidFill>
                <a:latin typeface="Space Grotesk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B9B6AE"/>
                </a:solidFill>
                <a:latin typeface="JetBrains Mono"/>
              </a:rPr>
              <a:t>QuizRush — real news, real time, real trivia.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